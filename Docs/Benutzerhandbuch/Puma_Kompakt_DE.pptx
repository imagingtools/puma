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920240" cy="192024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PUMA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63240" y="100584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Zentrale Authentifizierung und Autorisierung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0672" y="20574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2CFDA"/>
                </a:solidFill>
                <a:latin typeface="Aptos"/>
              </a:defRPr>
            </a:pPr>
            <a:r>
              <a:t>Server · SDK · LDAP · Personal Access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3154680"/>
            <a:ext cx="1645920" cy="68580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Identität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3154680"/>
            <a:ext cx="1645920" cy="68580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Rollen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79" y="3154680"/>
            <a:ext cx="1645920" cy="68580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Gruppen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3154680"/>
            <a:ext cx="1645920" cy="68580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Deutsche Kompaktübersicht zum Puma-Benutzerhandbuch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Puma als zentrales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57400"/>
            <a:ext cx="1645920" cy="91440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Benutzer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39"/>
            <a:ext cx="1645920" cy="91440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880360"/>
            <a:ext cx="1965960" cy="91440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Produktanwendung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880360"/>
            <a:ext cx="1828800" cy="91440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AuthClientSdk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148840"/>
            <a:ext cx="1965960" cy="23317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Puma-Server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32720" y="1417320"/>
            <a:ext cx="1325880" cy="77724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32720" y="2926080"/>
            <a:ext cx="1325880" cy="77724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4434840"/>
            <a:ext cx="1325880" cy="77724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Windows-</a:t>
            </a:r>
            <a:br/>
            <a:r>
              <a:t>Domäne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3120" y="2514600"/>
            <a:ext cx="640080" cy="68580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103120" y="3474720"/>
            <a:ext cx="640080" cy="73152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09160" y="3337560"/>
            <a:ext cx="59436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2320" y="3337560"/>
            <a:ext cx="64008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738360" y="1810512"/>
            <a:ext cx="594360" cy="1527048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738360" y="3310128"/>
            <a:ext cx="594360" cy="27432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38360" y="3337560"/>
            <a:ext cx="594360" cy="1490472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28431" y="2697480"/>
            <a:ext cx="1463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Login</a:t>
            </a:r>
            <a:br/>
            <a:r>
              <a:t>RBAC</a:t>
            </a:r>
            <a:br/>
            <a:r>
              <a:t>Sitzungen</a:t>
            </a:r>
            <a:br/>
            <a:r>
              <a:t>PAT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Berechtigungsmodell: vom Benutzer zur Aktion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645920" cy="91440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Benutzer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463040"/>
            <a:ext cx="1645920" cy="91440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direkte Rolle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3566160"/>
            <a:ext cx="1645920" cy="91440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Gruppe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3566160"/>
            <a:ext cx="1645920" cy="91440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Gruppenrolle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377440"/>
            <a:ext cx="1645920" cy="91440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Berechtigung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2377440"/>
            <a:ext cx="1417320" cy="91440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Produkt-ID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286000" y="1920240"/>
            <a:ext cx="685800" cy="82296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286000" y="2926080"/>
            <a:ext cx="685800" cy="109728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17720" y="4023360"/>
            <a:ext cx="77724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17720" y="1920240"/>
            <a:ext cx="3200400" cy="82296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040880" y="2971800"/>
            <a:ext cx="777240" cy="105156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464040" y="2834640"/>
            <a:ext cx="64008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0749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6313C"/>
                </a:solidFill>
                <a:latin typeface="Aptos"/>
              </a:defRPr>
            </a:pPr>
            <a:r>
              <a:t>Effektive Rechte = direkte Rollen ∪ Rollen der Gruppen — immer im Kontext der Produkt-ID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Inbetriebnahme in fünf Schritten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965960"/>
            <a:ext cx="1965960" cy="141732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Variante wählen</a:t>
            </a:r>
            <a:br/>
            <a:r>
              <a:t>SQLite / 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" y="1143000"/>
            <a:ext cx="713232" cy="566928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679192"/>
            <a:ext cx="365760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965960"/>
            <a:ext cx="1965960" cy="141732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Ports, TLS und</a:t>
            </a:r>
            <a:br/>
            <a:r>
              <a:t>Firewall konfigurieren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143000"/>
            <a:ext cx="713232" cy="566928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679192"/>
            <a:ext cx="365760" cy="0"/>
          </a:xfrm>
          <a:prstGeom prst="line">
            <a:avLst/>
          </a:prstGeom>
          <a:ln w="25400">
            <a:solidFill>
              <a:srgbClr val="24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965960"/>
            <a:ext cx="1965960" cy="141732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Datenbank und</a:t>
            </a:r>
            <a:br/>
            <a:r>
              <a:t>Repositories prüfen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6712" y="1143000"/>
            <a:ext cx="713232" cy="566928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2679192"/>
            <a:ext cx="365761" cy="0"/>
          </a:xfrm>
          <a:prstGeom prst="line">
            <a:avLst/>
          </a:prstGeom>
          <a:ln w="2540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965960"/>
            <a:ext cx="1965960" cy="141732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Superuser</a:t>
            </a:r>
            <a:br/>
            <a:r>
              <a:t>initial erzeugen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1143000"/>
            <a:ext cx="713232" cy="566928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2679192"/>
            <a:ext cx="365759" cy="0"/>
          </a:xfrm>
          <a:prstGeom prst="line">
            <a:avLst/>
          </a:prstGeom>
          <a:ln w="25400">
            <a:solidFill>
              <a:srgbClr val="EB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59" y="1965960"/>
            <a:ext cx="1965960" cy="14173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Rollen, Gruppen,</a:t>
            </a:r>
            <a:br/>
            <a:r>
              <a:t>Benutzer testen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60151" y="1143000"/>
            <a:ext cx="713232" cy="566928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13C"/>
                </a:solidFill>
                <a:latin typeface="Aptos"/>
              </a:defRPr>
            </a:pPr>
            <a:r>
              <a:t>• Produktion immer mit HTTPS/WSS und TLS 1.2 oder höher</a:t>
            </a:r>
          </a:p>
          <a:p>
            <a:pPr>
              <a:spcAft>
                <a:spcPts val="800"/>
              </a:spcAft>
              <a:defRPr sz="1600">
                <a:solidFill>
                  <a:srgbClr val="26313C"/>
                </a:solidFill>
                <a:latin typeface="Aptos"/>
              </a:defRPr>
            </a:pPr>
            <a:r>
              <a:t>• Einstellungen, Datenbank und Zertifikate sichern</a:t>
            </a:r>
          </a:p>
          <a:p>
            <a:pPr>
              <a:spcAft>
                <a:spcPts val="800"/>
              </a:spcAft>
              <a:defRPr sz="1600">
                <a:solidFill>
                  <a:srgbClr val="26313C"/>
                </a:solidFill>
                <a:latin typeface="Aptos"/>
              </a:defRPr>
            </a:pPr>
            <a:r>
              <a:t>• Personalisierte Administratorkonten statt geteilter Superuser-Zugangsdaten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Kern-Use-Cases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337560" cy="68580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Benutzer verwalten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13C"/>
                </a:solidFill>
                <a:latin typeface="Aptos"/>
              </a:defRPr>
            </a:pPr>
            <a:r>
              <a:t>Anlegen · Rollen zuweisen · Gruppen nutzen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337560" cy="68580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Interaktiv anmelden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13C"/>
                </a:solidFill>
                <a:latin typeface="Aptos"/>
              </a:defRPr>
            </a:pPr>
            <a:r>
              <a:t>Sitzungstoken · Produktrechte · Logout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143000"/>
            <a:ext cx="3337560" cy="68580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Domänenlogin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13C"/>
                </a:solidFill>
                <a:latin typeface="Aptos"/>
              </a:defRPr>
            </a:pPr>
            <a:r>
              <a:t>Windows prüft Identität · Puma verwaltet Rechte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474720"/>
            <a:ext cx="3337560" cy="68580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Automatisieren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297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13C"/>
                </a:solidFill>
                <a:latin typeface="Aptos"/>
              </a:defRPr>
            </a:pPr>
            <a:r>
              <a:t>PAT mit minimalen Scopes und Ablaufdatum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474720"/>
            <a:ext cx="3337560" cy="68580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Server integrieren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4297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13C"/>
                </a:solidFill>
                <a:latin typeface="Aptos"/>
              </a:defRPr>
            </a:pPr>
            <a:r>
              <a:t>Eigene Dienste über AuthServerSdk absichern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3474720"/>
            <a:ext cx="3337560" cy="685800"/>
          </a:xfrm>
          <a:prstGeom prst="roundRect">
            <a:avLst/>
          </a:prstGeom>
          <a:solidFill>
            <a:srgbClr val="C7423E"/>
          </a:solidFill>
          <a:ln>
            <a:solidFill>
              <a:srgbClr val="C7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Betrieb sichern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4297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6313C"/>
                </a:solidFill>
                <a:latin typeface="Aptos"/>
              </a:defRPr>
            </a:pPr>
            <a:r>
              <a:t>Backup · Reviews · Rotation ·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Interaktiver Login-Flow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2011680" cy="59436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Benutzer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051560"/>
            <a:ext cx="2011680" cy="59436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Anwendung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051560"/>
            <a:ext cx="2011680" cy="59436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AuthClientSdk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9719" y="1051560"/>
            <a:ext cx="2011680" cy="59436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Puma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1645920"/>
            <a:ext cx="0" cy="3794760"/>
          </a:xfrm>
          <a:prstGeom prst="line">
            <a:avLst/>
          </a:prstGeom>
          <a:ln w="12700">
            <a:solidFill>
              <a:srgbClr val="C2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34840" y="1645920"/>
            <a:ext cx="0" cy="3794760"/>
          </a:xfrm>
          <a:prstGeom prst="line">
            <a:avLst/>
          </a:prstGeom>
          <a:ln w="12700">
            <a:solidFill>
              <a:srgbClr val="C2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15200" y="1645920"/>
            <a:ext cx="0" cy="3794760"/>
          </a:xfrm>
          <a:prstGeom prst="line">
            <a:avLst/>
          </a:prstGeom>
          <a:ln w="12700">
            <a:solidFill>
              <a:srgbClr val="C2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195559" y="1645920"/>
            <a:ext cx="0" cy="3794760"/>
          </a:xfrm>
          <a:prstGeom prst="line">
            <a:avLst/>
          </a:prstGeom>
          <a:ln w="12700">
            <a:solidFill>
              <a:srgbClr val="C2C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54480" y="2011680"/>
            <a:ext cx="2880360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64207" y="171907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313C"/>
                </a:solidFill>
                <a:latin typeface="Aptos"/>
              </a:defRPr>
            </a:pPr>
            <a:r>
              <a:t>Login + Passwort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34840" y="2651760"/>
            <a:ext cx="2880360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44568" y="235915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313C"/>
                </a:solidFill>
                <a:latin typeface="Aptos"/>
              </a:defRPr>
            </a:pPr>
            <a:r>
              <a:t>Login(...)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0" y="3291840"/>
            <a:ext cx="2880359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24927" y="29992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313C"/>
                </a:solidFill>
                <a:latin typeface="Aptos"/>
              </a:defRPr>
            </a:pPr>
            <a:r>
              <a:t>Authentifizieren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315200" y="3931920"/>
            <a:ext cx="2880359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24927" y="363931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313C"/>
                </a:solidFill>
                <a:latin typeface="Aptos"/>
              </a:defRPr>
            </a:pPr>
            <a:r>
              <a:t>Token + Rechte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554480" y="4572000"/>
            <a:ext cx="2880360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64207" y="42793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6313C"/>
                </a:solidFill>
                <a:latin typeface="Aptos"/>
              </a:defRPr>
            </a:pPr>
            <a:r>
              <a:t>UI nach Rechten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150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C7423E"/>
                </a:solidFill>
                <a:latin typeface="Aptos"/>
              </a:defRPr>
            </a:pPr>
            <a:r>
              <a:t>UI-Prüfung ist Komfort — geschützte Serveroperationen müssen Rechte erneut prüfen.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SDK-Schicht für eigene Anwendungen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3291840" cy="73152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AuthClientSdk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143000"/>
            <a:ext cx="3291840" cy="7315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AuthServerSdk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Verbindung + Produkt-ID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43784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Login / Logout / Token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538728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HasPermission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233672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Benutzer / Rollen / Gruppen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928616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PAT-Verwaltung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148840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Eigene HTTP-/WS-Dienste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2843784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Verbindung zum Puma-Backend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3538728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Produkt-ID + Featuredatei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4233672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TLS für Client- und Backendseite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58200" y="4928616"/>
            <a:ext cx="2926080" cy="512064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Start / Stop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240280"/>
            <a:ext cx="2697480" cy="219456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Puma</a:t>
            </a:r>
            <a:br/>
            <a:br/>
            <a:r>
              <a:t>Zentrale Identität</a:t>
            </a:r>
            <a:br/>
            <a:r>
              <a:t>und Rechte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86200" y="3337560"/>
            <a:ext cx="82296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406640" y="3337560"/>
            <a:ext cx="86868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LDAP: Windows-Domänenanmeldung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1645920" cy="77724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Domänen-</a:t>
            </a:r>
            <a:br/>
            <a:r>
              <a:t>benutzer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331720"/>
            <a:ext cx="1645920" cy="77724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Puma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2331720"/>
            <a:ext cx="1920240" cy="77724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Windows</a:t>
            </a:r>
            <a:br/>
            <a:r>
              <a:t>LogonUser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325880"/>
            <a:ext cx="1920240" cy="77724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Benutzer per</a:t>
            </a:r>
            <a:br/>
            <a:r>
              <a:t>Login / SID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3337560"/>
            <a:ext cx="1920240" cy="77724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Default-Rolle</a:t>
            </a:r>
            <a:br/>
            <a:r>
              <a:t>für Produkt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331720"/>
            <a:ext cx="1417320" cy="77724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Sitzung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724912"/>
            <a:ext cx="68580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389120" y="2724912"/>
            <a:ext cx="68580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95160" y="1719072"/>
            <a:ext cx="685800" cy="100584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995160" y="2724912"/>
            <a:ext cx="685800" cy="100584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1719072"/>
            <a:ext cx="685800" cy="841248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601200" y="2880360"/>
            <a:ext cx="685800" cy="850392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80060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13C"/>
                </a:solidFill>
                <a:latin typeface="Aptos"/>
              </a:defRPr>
            </a:pPr>
            <a:r>
              <a:t>• Aktuelle Implementierung ist Windows-/Active-Directory-spezifisch</a:t>
            </a:r>
          </a:p>
          <a:p>
            <a:pPr>
              <a:spcAft>
                <a:spcPts val="800"/>
              </a:spcAft>
              <a:defRPr sz="1500">
                <a:solidFill>
                  <a:srgbClr val="26313C"/>
                </a:solidFill>
                <a:latin typeface="Aptos"/>
              </a:defRPr>
            </a:pPr>
            <a:r>
              <a:t>• Beim ersten Login wird ein interner Puma-Benutzer gespiegelt</a:t>
            </a:r>
          </a:p>
          <a:p>
            <a:pPr>
              <a:spcAft>
                <a:spcPts val="800"/>
              </a:spcAft>
              <a:defRPr sz="1500">
                <a:solidFill>
                  <a:srgbClr val="26313C"/>
                </a:solidFill>
                <a:latin typeface="Aptos"/>
              </a:defRPr>
            </a:pPr>
            <a:r>
              <a:t>• LDAP deaktivieren, wenn ausschließlich lokale Konten verwendet werden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PAT: sicherer Zugriff für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1965960" cy="73152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Eigentümer / 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143000"/>
            <a:ext cx="1965960" cy="73152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PAT erzeugen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1143000"/>
            <a:ext cx="1965960" cy="73152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Secret Store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143000"/>
            <a:ext cx="1645920" cy="73152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Job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143000"/>
            <a:ext cx="1417320" cy="73152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1508760"/>
            <a:ext cx="54864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83480" y="1508760"/>
            <a:ext cx="54864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1508760"/>
            <a:ext cx="548641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0" y="1508760"/>
            <a:ext cx="54864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2880360"/>
            <a:ext cx="23317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6313C"/>
                </a:solidFill>
                <a:latin typeface="Aptos"/>
              </a:defRPr>
            </a:pPr>
            <a:r>
              <a:t>1 · Name und Zweck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2880360"/>
            <a:ext cx="23317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6313C"/>
                </a:solidFill>
                <a:latin typeface="Aptos"/>
              </a:defRPr>
            </a:pPr>
            <a:r>
              <a:t>2 · Minimale Scopes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23317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6313C"/>
                </a:solidFill>
                <a:latin typeface="Aptos"/>
              </a:defRPr>
            </a:pPr>
            <a:r>
              <a:t>3 · Ablaufdatum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880360"/>
            <a:ext cx="2331720" cy="105156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6313C"/>
                </a:solidFill>
                <a:latin typeface="Aptos"/>
              </a:defRPr>
            </a:pPr>
            <a:r>
              <a:t>4 · Rotation / Revoke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7423E"/>
                </a:solidFill>
                <a:latin typeface="Aptos"/>
              </a:defRPr>
            </a:pPr>
            <a:r>
              <a:t>PAT-Secret nie in Quellcode, Protokolle, Tickets oder Präsentationen speichern.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PAT-Lebenszyklus und Zugriffsregeln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828800" cy="77724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Erstellt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234440"/>
            <a:ext cx="1828800" cy="77724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Aktiv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234440"/>
            <a:ext cx="1828800" cy="77724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Verwendet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234440"/>
            <a:ext cx="1828800" cy="777240"/>
          </a:xfrm>
          <a:prstGeom prst="roundRect">
            <a:avLst/>
          </a:prstGeom>
          <a:solidFill>
            <a:srgbClr val="C7423E"/>
          </a:solidFill>
          <a:ln>
            <a:solidFill>
              <a:srgbClr val="C7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Widerrufen /</a:t>
            </a:r>
            <a:br/>
            <a:r>
              <a:t>abgelaufen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68880" y="1627632"/>
            <a:ext cx="82296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1627632"/>
            <a:ext cx="82296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0" y="1627632"/>
            <a:ext cx="822960" cy="0"/>
          </a:xfrm>
          <a:prstGeom prst="line">
            <a:avLst/>
          </a:prstGeom>
          <a:ln w="25400">
            <a:solidFill>
              <a:srgbClr val="6675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2971800"/>
            <a:ext cx="3246120" cy="123444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Eigentümer</a:t>
            </a:r>
            <a:br/>
            <a:r>
              <a:t>Eigene PATs verwalten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971800"/>
            <a:ext cx="3246120" cy="123444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Administrator</a:t>
            </a:r>
            <a:br/>
            <a:r>
              <a:t>PATs anderer verwalten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971800"/>
            <a:ext cx="3246120" cy="1234440"/>
          </a:xfrm>
          <a:prstGeom prst="roundRect">
            <a:avLst/>
          </a:prstGeom>
          <a:solidFill>
            <a:srgbClr val="C7423E"/>
          </a:solidFill>
          <a:ln>
            <a:solidFill>
              <a:srgbClr val="C7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Anonym / fremder Nutzer</a:t>
            </a:r>
            <a:br/>
            <a:r>
              <a:t>Kein Zugriff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6313C"/>
                </a:solidFill>
                <a:latin typeface="Aptos"/>
              </a:defRPr>
            </a:pPr>
            <a:r>
              <a:t>• Gültig = vorhanden + aktiv + nicht widerrufen + nicht abgelaufen</a:t>
            </a:r>
          </a:p>
          <a:p>
            <a:pPr>
              <a:spcAft>
                <a:spcPts val="800"/>
              </a:spcAft>
              <a:defRPr sz="1500">
                <a:solidFill>
                  <a:srgbClr val="26313C"/>
                </a:solidFill>
                <a:latin typeface="Aptos"/>
              </a:defRPr>
            </a:pPr>
            <a:r>
              <a:t>• Validierung liefert aktuell Benutzer-ID und Scopes, aber keine rekonstruierbare Produkt-ID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Sicherheitsleitplanken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377440"/>
            <a:ext cx="2651760" cy="1143000"/>
          </a:xfrm>
          <a:prstGeom prst="roundRect">
            <a:avLst/>
          </a:prstGeom>
          <a:solidFill>
            <a:srgbClr val="12233A"/>
          </a:solidFill>
          <a:ln>
            <a:solidFill>
              <a:srgbClr val="12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2057400" cy="68580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TLS 1.2+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23060" y="1440180"/>
            <a:ext cx="4457700" cy="1504188"/>
          </a:xfrm>
          <a:prstGeom prst="line">
            <a:avLst/>
          </a:prstGeom>
          <a:ln w="127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" y="3977639"/>
            <a:ext cx="2057400" cy="685800"/>
          </a:xfrm>
          <a:prstGeom prst="roundRect">
            <a:avLst/>
          </a:prstGeom>
          <a:solidFill>
            <a:srgbClr val="C7423E"/>
          </a:solidFill>
          <a:ln>
            <a:solidFill>
              <a:srgbClr val="C7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Keine Token-Logs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623060" y="2944368"/>
            <a:ext cx="4457700" cy="1376172"/>
          </a:xfrm>
          <a:prstGeom prst="line">
            <a:avLst/>
          </a:prstGeom>
          <a:ln w="12700">
            <a:solidFill>
              <a:srgbClr val="C74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46120" y="4892040"/>
            <a:ext cx="2057400" cy="68580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Rollen-Reviews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274820" y="2944368"/>
            <a:ext cx="1805940" cy="2290572"/>
          </a:xfrm>
          <a:prstGeom prst="line">
            <a:avLst/>
          </a:prstGeom>
          <a:ln w="1270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909560" y="4892040"/>
            <a:ext cx="2057400" cy="68580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PAT-Rotation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6080760" y="2944368"/>
            <a:ext cx="2857500" cy="2290572"/>
          </a:xfrm>
          <a:prstGeom prst="line">
            <a:avLst/>
          </a:prstGeom>
          <a:ln w="12700">
            <a:solidFill>
              <a:srgbClr val="EB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4040" y="3977639"/>
            <a:ext cx="2057400" cy="68580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Backups testen</a:t>
            </a:r>
          </a:p>
        </p:txBody>
      </p:sp>
      <p:cxnSp>
        <p:nvCxnSpPr>
          <p:cNvPr id="16" name="Connector 15"/>
          <p:cNvCxnSpPr/>
          <p:nvPr/>
        </p:nvCxnSpPr>
        <p:spPr>
          <a:xfrm flipH="1" flipV="1">
            <a:off x="6080760" y="2944368"/>
            <a:ext cx="4411980" cy="1376172"/>
          </a:xfrm>
          <a:prstGeom prst="line">
            <a:avLst/>
          </a:prstGeom>
          <a:ln w="12700">
            <a:solidFill>
              <a:srgbClr val="24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64040" y="1097280"/>
            <a:ext cx="2057400" cy="68580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Admin-Konten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6080760" y="1440180"/>
            <a:ext cx="4411980" cy="1504188"/>
          </a:xfrm>
          <a:prstGeom prst="line">
            <a:avLst/>
          </a:prstGeom>
          <a:ln w="127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Fehlersuche: von außen nach innen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965960" cy="59436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  Netz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48840"/>
            <a:ext cx="196596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Host · Ports · Firewall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1828800"/>
            <a:ext cx="365760" cy="0"/>
          </a:xfrm>
          <a:prstGeom prst="line">
            <a:avLst/>
          </a:prstGeom>
          <a:ln w="25400">
            <a:solidFill>
              <a:srgbClr val="206C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43200" y="1371600"/>
            <a:ext cx="1965960" cy="59436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  TLS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148840"/>
            <a:ext cx="196596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CA · Name · Uhrzeit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1828800"/>
            <a:ext cx="365760" cy="0"/>
          </a:xfrm>
          <a:prstGeom prst="line">
            <a:avLst/>
          </a:prstGeom>
          <a:ln w="25400">
            <a:solidFill>
              <a:srgbClr val="24AE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371600"/>
            <a:ext cx="1965960" cy="59436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  Identität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148840"/>
            <a:ext cx="196596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Passwort · LDAP · Status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40879" y="1828800"/>
            <a:ext cx="365761" cy="0"/>
          </a:xfrm>
          <a:prstGeom prst="line">
            <a:avLst/>
          </a:prstGeom>
          <a:ln w="25400">
            <a:solidFill>
              <a:srgbClr val="2D91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1371600"/>
            <a:ext cx="1965960" cy="59436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  Rechte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148840"/>
            <a:ext cx="196596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Produkt · Rolle · Gruppe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1828800"/>
            <a:ext cx="365759" cy="0"/>
          </a:xfrm>
          <a:prstGeom prst="line">
            <a:avLst/>
          </a:prstGeom>
          <a:ln w="25400">
            <a:solidFill>
              <a:srgbClr val="EB8B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59" y="1371600"/>
            <a:ext cx="1965960" cy="594360"/>
          </a:xfrm>
          <a:prstGeom prst="roundRect">
            <a:avLst/>
          </a:prstGeom>
          <a:solidFill>
            <a:srgbClr val="C7423E"/>
          </a:solidFill>
          <a:ln>
            <a:solidFill>
              <a:srgbClr val="C74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 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2148840"/>
            <a:ext cx="1965960" cy="91440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Scope · Ablauf · Revoke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7947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13C"/>
                </a:solidFill>
                <a:latin typeface="Aptos"/>
              </a:defRPr>
            </a:pPr>
            <a:r>
              <a:t>• Server- und Anwendungsprotokolle korrelieren</a:t>
            </a:r>
          </a:p>
          <a:p>
            <a:pPr>
              <a:spcAft>
                <a:spcPts val="800"/>
              </a:spcAft>
              <a:defRPr sz="1700">
                <a:solidFill>
                  <a:srgbClr val="26313C"/>
                </a:solidFill>
                <a:latin typeface="Aptos"/>
              </a:defRPr>
            </a:pPr>
            <a:r>
              <a:t>• Erst Erreichbarkeit und TLS, dann Login und Berechtigungen prüfen</a:t>
            </a:r>
          </a:p>
          <a:p>
            <a:pPr>
              <a:spcAft>
                <a:spcPts val="800"/>
              </a:spcAft>
              <a:defRPr sz="1700">
                <a:solidFill>
                  <a:srgbClr val="26313C"/>
                </a:solidFill>
                <a:latin typeface="Aptos"/>
              </a:defRPr>
            </a:pPr>
            <a:r>
              <a:t>• Negativtests einplanen: unerlaubte Aktion muss zuverlässig scheitern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Go-live-Checkliste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164592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C2CFDA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67582"/>
                </a:solidFill>
              </a:defRPr>
            </a:pPr>
            <a:r>
              <a:t>Puma Benutzerhandbuch · Deutsche Kompaktübersicht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2514600" cy="640080"/>
          </a:xfrm>
          <a:prstGeom prst="roundRect">
            <a:avLst/>
          </a:prstGeom>
          <a:solidFill>
            <a:srgbClr val="206CB0"/>
          </a:solidFill>
          <a:ln>
            <a:solidFill>
              <a:srgbClr val="20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01168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DB und Migration 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88036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HTTPS/WSS aktiv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749039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Backup getestet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143000"/>
            <a:ext cx="2514600" cy="640080"/>
          </a:xfrm>
          <a:prstGeom prst="roundRect">
            <a:avLst/>
          </a:prstGeom>
          <a:solidFill>
            <a:srgbClr val="2D915F"/>
          </a:solidFill>
          <a:ln>
            <a:solidFill>
              <a:srgbClr val="2D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Berechtigungen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Produkt-ID eindeutig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88036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Rollen fachlich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749039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Negativtests bestanden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43000"/>
            <a:ext cx="2514600" cy="640080"/>
          </a:xfrm>
          <a:prstGeom prst="roundRect">
            <a:avLst/>
          </a:prstGeom>
          <a:solidFill>
            <a:srgbClr val="24AEC4"/>
          </a:solidFill>
          <a:ln>
            <a:solidFill>
              <a:srgbClr val="24A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LDAP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1168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Windows/Domain bereit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8036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Erstlogin getestet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Deaktiviert, falls ungenutzt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1143000"/>
            <a:ext cx="2514600" cy="640080"/>
          </a:xfrm>
          <a:prstGeom prst="roundRect">
            <a:avLst/>
          </a:prstGeom>
          <a:solidFill>
            <a:srgbClr val="EB8B32"/>
          </a:solidFill>
          <a:ln>
            <a:solidFill>
              <a:srgbClr val="EB8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59" y="201168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Minimale Scopes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2880360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Ablauf + Rotation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3749039"/>
            <a:ext cx="2514600" cy="640080"/>
          </a:xfrm>
          <a:prstGeom prst="roundRect">
            <a:avLst/>
          </a:prstGeom>
          <a:solidFill>
            <a:srgbClr val="EFF4F8"/>
          </a:solidFill>
          <a:ln>
            <a:solidFill>
              <a:srgbClr val="EFF4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400" b="1">
                <a:solidFill>
                  <a:srgbClr val="26313C"/>
                </a:solidFill>
                <a:latin typeface="Aptos"/>
              </a:defRPr>
            </a:pPr>
            <a:r>
              <a:t>✓  Secret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663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233A"/>
                </a:solidFill>
                <a:latin typeface="Aptos"/>
              </a:defRPr>
            </a:pPr>
            <a:r>
              <a:t>Details, Use Cases und Referenzen: Docs/Benutzerhandbuch/Benutzerhandbuch_DE.md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7582"/>
                </a:solidFill>
                <a:latin typeface="Aptos"/>
              </a:defRPr>
            </a:pPr>
            <a:r>
              <a:t>Quellenbasis: Puma sowie Authentifizierungs-, LDAP- und PAT-Komponenten in ImagingTools/ImtCore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